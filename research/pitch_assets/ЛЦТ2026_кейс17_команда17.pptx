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Одна фраза: сервис узнаёт машину по внешности, без номера.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решаем не «распознать номер получше», а «обойтись без номера». Четыре кадра справа — из выборки заказчика, причина под каждым измерена, а не оценена на глаз.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Чистый клон собирается и работает без доступа в интернет — это проверяется скриптом check_reproducibility.sh, а не обещанием. Веса лежат в составе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Два вывода. Первый: выбор бэкбона дал больше, чем любая настройка. Второй: заштрихованные строки — модели, обученные на датасетах с закрытой лицензией. Мы их замерили как ориентир и в решение не взяли.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одной и той же машины спереди и сзади сходство доходило до отрицательного, правильный ответ улетал на 230-е место. Сейчас в живом сервисе 3.8%, в артефактах сдачи с постобработкой — 1.8%.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не «модель иногда ошибается». Мы можем показать конкретные кадры и назвать причину: ночь, близнецы одной модели и цвета, сильная смена ракурса. Отсюда же план следующей итерации.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Ничего экзотического в схеме нет. Сложность спрятана в протоколе оценки и в калибровке отказа, а не в количестве блоков.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Цена ложного совпадения в каждой задаче своя, поэтому порог вынесен в интерфейс. Рядом с переключателем написано, чем этот порог обоснован: F1, полнота и TNR в этой точке.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мы нашли у себя ошибку до жюри: порог, снятый с кросс-камерного распределения, на боевой выдаче не срабатывал ни разу. Перекалибровали на рабочем распределении и показываем оба.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сознательно не заявляем двукратное ускорение: первая цифра оказалась артефактом замера — ONNX делал один проход против двух у торча. Поправили замер и оставили честные 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Точный перебор по миллиону векторов — 137 мс на запрос. HNSW — доли миллисекунды при потере четверти пункта mAP. IVF-PQ ещё компактнее, но теряет уже 14 пунктов, поэтому он не наш выбор.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показываем не только то, что получилось, но и то, где мы сами себя поймали. Это и есть проверяемость.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не абстрактный: код обучения написан и прогнан, упирается только в железо.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Открываем веб, грузим кадр, обводим машину, получаем кандидатов. Потом «показать почему»: зона номера в подсветке не участвует.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65836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B0B0B"/>
                </a:solidFill>
                <a:latin typeface="Arial"/>
              </a:rPr>
              <a:t>Цифровой признак транспортного средства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Arial"/>
              </a:rPr>
              <a:t>Сопоставление снимков одной машины с разных камер без государственного номера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120640"/>
            <a:ext cx="6583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Кейс 17 · «Фалькон Тех» · команда 17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Arial"/>
              </a:rPr>
              <a:t>ЛЦТ 2026</a:t>
            </a:r>
          </a:p>
        </p:txBody>
      </p:sp>
      <p:pic>
        <p:nvPicPr>
          <p:cNvPr id="4" name="Picture 3" descr="09_ui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4114800" cy="33004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rial"/>
              </a:rPr>
              <a:t>2 · 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Номер решает не все случаи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Ракурс, ночь, блик, расстояние, перекрытие — и опознавать машину нечем. Нужен признак, который работает, когда номера нет.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plate_unread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600710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5669280"/>
            <a:ext cx="3200400" cy="10515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0 OCR</a:t>
            </a:r>
          </a:p>
          <a:p>
            <a:pPr algn="l"/>
            <a:r>
              <a:rPr sz="1100">
                <a:solidFill>
                  <a:srgbClr val="E8F0FB"/>
                </a:solidFill>
                <a:latin typeface="Arial"/>
              </a:rPr>
              <a:t>номер не извлекается нигде в цепочке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rial"/>
              </a:rPr>
              <a:t>3 · Что сделали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Это сервис, а не ноутбук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Три контейнера, подъём одной командой, веб-интерфейс для оператора, режим отказа и объяснение решения.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9969910" cy="2377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5669280"/>
            <a:ext cx="3200400" cy="10515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19 / 19</a:t>
            </a:r>
          </a:p>
          <a:p>
            <a:pPr algn="l"/>
            <a:r>
              <a:rPr sz="1100">
                <a:solidFill>
                  <a:srgbClr val="E8F0FB"/>
                </a:solidFill>
                <a:latin typeface="Arial"/>
              </a:rPr>
              <a:t>проверок воспроизводимости зелёные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rial"/>
              </a:rPr>
              <a:t>4 · Методология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Выбор бэкбона решает больше, чем тюнинг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Девять вариантов на одном сплите. Протокол: 150 отложенных машин, кросс-камерный расчёт, совпадения своей камеры исключены.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backb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655320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5669280"/>
            <a:ext cx="3200400" cy="10515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+27.8 mAP</a:t>
            </a:r>
          </a:p>
          <a:p>
            <a:pPr algn="l"/>
            <a:r>
              <a:rPr sz="1100">
                <a:solidFill>
                  <a:srgbClr val="E8F0FB"/>
                </a:solidFill>
                <a:latin typeface="Arial"/>
              </a:rPr>
              <a:t>замена CLIP на SigLIP, без обучения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rial"/>
              </a:rPr>
              <a:t>5 · Проблема ракурса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Назвали проблему числом и закрыли её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Катастрофический провал — правильный ответ дальше 50-го места. Именно так выглядит промах по ракурсу.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view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786384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5669280"/>
            <a:ext cx="3200400" cy="10515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19×</a:t>
            </a:r>
          </a:p>
          <a:p>
            <a:pPr algn="l"/>
            <a:r>
              <a:rPr sz="1100">
                <a:solidFill>
                  <a:srgbClr val="E8F0FB"/>
                </a:solidFill>
                <a:latin typeface="Arial"/>
              </a:rPr>
              <a:t>меньше катастроф: 34.7% → 1.8%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rial"/>
              </a:rPr>
              <a:t>6 · Анализ ошибок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Мы знаем, на чём модель падает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Пять категорий, у каждой — живые кадры: запрос, что выдала первым, где оказался правильный ответ.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errors_n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3824149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5669280"/>
            <a:ext cx="3200400" cy="10515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3.8%</a:t>
            </a:r>
          </a:p>
          <a:p>
            <a:pPr algn="l"/>
            <a:r>
              <a:rPr sz="1100">
                <a:solidFill>
                  <a:srgbClr val="E8F0FB"/>
                </a:solidFill>
                <a:latin typeface="Arial"/>
              </a:rPr>
              <a:t>катастроф осталось в сервисе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rial"/>
              </a:rPr>
              <a:t>7 · Архитектура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Одна модель, одна голова, один индекс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Кадр → рамка → кроп с запасом 10% → SigLIP base → голова с BNNeck → вектор 512D → поиск → кандидаты либо отказ.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9969910" cy="2377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5669280"/>
            <a:ext cx="3200400" cy="10515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359 МБ</a:t>
            </a:r>
          </a:p>
          <a:p>
            <a:pPr algn="l"/>
            <a:r>
              <a:rPr sz="1100">
                <a:solidFill>
                  <a:srgbClr val="E8F0FB"/>
                </a:solidFill>
                <a:latin typeface="Arial"/>
              </a:rPr>
              <a:t>веса при лимите 2048 МБ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rial"/>
              </a:rPr>
              <a:t>8 · Путь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Строгость выбирает человек, а не константа в коде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Оператор загружает кадр, обводит машину, получает кандидатов с уверенностью либо честный отказ.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_user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9969910" cy="2377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5669280"/>
            <a:ext cx="3200400" cy="10515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0.5114 / 0.6354</a:t>
            </a:r>
          </a:p>
          <a:p>
            <a:pPr algn="l"/>
            <a:r>
              <a:rPr sz="1100">
                <a:solidFill>
                  <a:srgbClr val="E8F0FB"/>
                </a:solidFill>
                <a:latin typeface="Arial"/>
              </a:rPr>
              <a:t>сбалансированный и строгий порог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rial"/>
              </a:rPr>
              <a:t>9 · Метрики и режим отказа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Порог взят из распределения, а не из головы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Качество ранжирования и отдельно качество отказа. Порог — максимум индекса Юдена на том распределении, в котором работает сервис.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refu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786384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5669280"/>
            <a:ext cx="3200400" cy="10515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AUC 0.972</a:t>
            </a:r>
          </a:p>
          <a:p>
            <a:pPr algn="l"/>
            <a:r>
              <a:rPr sz="1100">
                <a:solidFill>
                  <a:srgbClr val="E8F0FB"/>
                </a:solidFill>
                <a:latin typeface="Arial"/>
              </a:rPr>
              <a:t>F1 0.934, TNR 0.927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rial"/>
              </a:rPr>
              <a:t>10 · Производительность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Сначала профиль, потом оптимизация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Профиль сказал, что вся обвязка — 3% времени. Поэтому честный выигрыш от её оптимизации 9%, а не двукратный.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6799385" cy="2651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5669280"/>
            <a:ext cx="3200400" cy="10515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2 vCPU</a:t>
            </a:r>
          </a:p>
          <a:p>
            <a:pPr algn="l"/>
            <a:r>
              <a:rPr sz="1100">
                <a:solidFill>
                  <a:srgbClr val="E8F0FB"/>
                </a:solidFill>
                <a:latin typeface="Arial"/>
              </a:rPr>
              <a:t>без видеокарты, без деградации памяти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rial"/>
              </a:rPr>
              <a:t>11 · Масштабирование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Миллион векторов — это замер, а не рассуждение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Реальная валидационная галерея внутри миллиона правдоподобных дистракторов, реальные запросы, метрики по протоколу жюри.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ann_1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31720"/>
            <a:ext cx="8229600" cy="3017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5669280"/>
            <a:ext cx="3200400" cy="10515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в 335× быстрее</a:t>
            </a:r>
          </a:p>
          <a:p>
            <a:pPr algn="l"/>
            <a:r>
              <a:rPr sz="1100">
                <a:solidFill>
                  <a:srgbClr val="E8F0FB"/>
                </a:solidFill>
                <a:latin typeface="Arial"/>
              </a:rPr>
              <a:t>HNSW против точного перебора, −0.26 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rial"/>
              </a:rPr>
              <a:t>12 · Чем отличаемся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Три вещи, которые редко делают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Лицензионная чистота, пойманные собственные ошибки замера, проверяемость каждой цифры.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60350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•  Все открытые ReID-датасеты для машин — non-commercial. Проверили по первоисточникам и обучались только на данных заказчика.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•  Трижды поймали себя на завышенном замере: ускорение, re-ranking и расхождение офлайн-признаков с ответом сервиса.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•  У каждой цифры в презентации написано, каким скриптом она получена. Всё лежит в research/results/ в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5669280"/>
            <a:ext cx="3200400" cy="10515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0</a:t>
            </a:r>
          </a:p>
          <a:p>
            <a:pPr algn="l"/>
            <a:r>
              <a:rPr sz="1100">
                <a:solidFill>
                  <a:srgbClr val="E8F0FB"/>
                </a:solidFill>
                <a:latin typeface="Arial"/>
              </a:rPr>
              <a:t>закрытых лицензий в решении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98781"/>
                </a:solidFill>
                <a:latin typeface="Arial"/>
              </a:rPr>
              <a:t>13 · 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Знаем, где следующий рост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Полное дообучение бэкбона на видеокарте, so400m как вариант для стенда с GPU, геометрические аугментации под смену ракурса.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5740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60350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•  Разморозка бэкбона: ноутбук готов и проверен, не хватало только GPU.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•  so400m даёт 60.80 mAP без обучения, но 0.35 кадра/с на CPU — включается профилем, если у стенда есть видеокарта.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•  Ансамбль из нескольких голов: замерен, помещается в лимит весов, включается одной переменной.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5669280"/>
            <a:ext cx="3200400" cy="105156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+5…10 mAP</a:t>
            </a:r>
          </a:p>
          <a:p>
            <a:pPr algn="l"/>
            <a:r>
              <a:rPr sz="1100">
                <a:solidFill>
                  <a:srgbClr val="E8F0FB"/>
                </a:solidFill>
                <a:latin typeface="Arial"/>
              </a:rPr>
              <a:t>ожидаемо при разморозке бэкбона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B0B0B"/>
                </a:solidFill>
                <a:latin typeface="Arial"/>
              </a:rPr>
              <a:t>Демонстрация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Arial"/>
              </a:rPr>
              <a:t>Сервис поднимается одной командой и отвечает на живых кадрах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103120"/>
            <a:ext cx="10908792" cy="12700"/>
          </a:xfrm>
          <a:prstGeom prst="rect">
            <a:avLst/>
          </a:prstGeom>
          <a:solidFill>
            <a:srgbClr val="E1E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5669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B0B0B"/>
                </a:solidFill>
                <a:latin typeface="Arial"/>
              </a:rPr>
              <a:t>cp .env.example .env &amp;&amp; docker compose up -d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52514E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Веб-интерфейс на порту 8080, API и Swagger на 8000.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Четыре подготовленных запроса: лёгкий, сложный ракурс, ночь и запрос без пары для показа отказа.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Arial"/>
              </a:rPr>
              <a:t>Сценарий показа — research/DEMO_SCENARIO.md</a:t>
            </a:r>
          </a:p>
        </p:txBody>
      </p:sp>
      <p:pic>
        <p:nvPicPr>
          <p:cNvPr id="5" name="Picture 4" descr="16_ui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286000"/>
            <a:ext cx="3225857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